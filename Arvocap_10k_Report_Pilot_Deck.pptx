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4754880" cy="292608"/>
          </a:xfrm>
          <a:prstGeom prst="roundRect">
            <a:avLst>
              <a:gd name="adj" fmla="val 50000"/>
            </a:avLst>
          </a:prstGeom>
          <a:solidFill>
            <a:srgbClr val="EBF3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937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EXECUTION_ENGINE: ONLINE  |  10k REPORT SUITE</a:t>
            </a:r>
            <a:endParaRPr lang="en-US" sz="950" dirty="0"/>
          </a:p>
        </p:txBody>
      </p:sp>
      <p:pic>
        <p:nvPicPr>
          <p:cNvPr id="4" name="Image 0" descr="/Users/satyyy/Documents/R&amp;D - C3ALABS/LLM-Intelligence-Repository/assets/sarvax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411480"/>
            <a:ext cx="274320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00584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THAT </a:t>
            </a:r>
            <a:pPr indent="0" marL="0">
              <a:buNone/>
            </a:pPr>
            <a:r>
              <a:rPr lang="en-US" sz="3800" b="1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EXECUTES.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178308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Frontier AI Model Guide &amp; 10,000 Monthly Report Costing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24028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Rate Cards, Model Superpowers &amp; Realistic Managed Costing for Arvocap Asset Managers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834640"/>
            <a:ext cx="10728655" cy="3017520"/>
          </a:xfrm>
          <a:prstGeom prst="roundRect">
            <a:avLst>
              <a:gd name="adj" fmla="val 3636"/>
            </a:avLst>
          </a:prstGeom>
          <a:solidFill>
            <a:srgbClr val="F5F5F7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306324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BRIEF FOR BOARD &amp; TECHNICAL LEADERSHIP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05840" y="3429000"/>
            <a:ext cx="101800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ARVOCAP LEADERSHIP: Monicah Mwaniki (Co-Founder &amp; CEO), John Ngure, Arnold Oduma (Tech Lead), Simar Juttla (Tech Lead)</a:t>
            </a:r>
            <a:endParaRPr lang="en-US" sz="11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C3A LABS TEAM: Satyam Singh Rajput (Product &amp; Systems Lead), Pratyush Malviya (Sales Manager)</a:t>
            </a:r>
            <a:endParaRPr lang="en-US" sz="11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SUMMARY: Establishing report complexity tiers, evaluating 22 frontier AI models side-by-side (External Direct vs SARVAX Managed), and proving how Gemini OCR Ingestion + DeepSeek Text + Kimi K3 Brain delivers 10,000 monthly reports at $950/mo. Delivery via Email &amp; WhatsApp API.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1520" y="6035040"/>
            <a:ext cx="10728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NARRATIVE STEP: To scale AUM from KSh 11.02B to 20B+, we face a monthly client communication bottleneck.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12700">
            <a:solidFill>
              <a:srgbClr val="E5E5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SARVAX BY C3A LABS | 22-MODEL COMPARISON &amp; COMMERCIAL SPECIFICATION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5457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47472"/>
            <a:ext cx="4389120" cy="274320"/>
          </a:xfrm>
          <a:prstGeom prst="roundRect">
            <a:avLst>
              <a:gd name="adj" fmla="val 50000"/>
            </a:avLst>
          </a:prstGeom>
          <a:solidFill>
            <a:srgbClr val="EBF3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7490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EXECUTIVE BRIEF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Sending 10,000 Personalised Client Reports Every Month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332074" cy="1920240"/>
          </a:xfrm>
          <a:prstGeom prst="roundRect">
            <a:avLst>
              <a:gd name="adj" fmla="val 5714"/>
            </a:avLst>
          </a:prstGeom>
          <a:solidFill>
            <a:srgbClr val="F5F5F7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44752"/>
            <a:ext cx="296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10,000 Clients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1901952"/>
            <a:ext cx="2966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Investor Coverage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212848"/>
            <a:ext cx="29663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investor across Money Market, Almasi Fixed Income, and Equity funds receives a clear monthly update.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29354" y="1280160"/>
            <a:ext cx="3332074" cy="1920240"/>
          </a:xfrm>
          <a:prstGeom prst="roundRect">
            <a:avLst>
              <a:gd name="adj" fmla="val 5714"/>
            </a:avLst>
          </a:prstGeom>
          <a:solidFill>
            <a:srgbClr val="F5F5F7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2234" y="1444752"/>
            <a:ext cx="296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2 Minutes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12234" y="1901952"/>
            <a:ext cx="2966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Multi-Page PDF Generation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12234" y="2212848"/>
            <a:ext cx="29663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Replaces 48-hour manual analyst delays. Completes full PDF OCR, reasoning, and rendering in under 2 minutes per report.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27187" y="1280160"/>
            <a:ext cx="3332074" cy="1920240"/>
          </a:xfrm>
          <a:prstGeom prst="roundRect">
            <a:avLst>
              <a:gd name="adj" fmla="val 5714"/>
            </a:avLst>
          </a:prstGeom>
          <a:solidFill>
            <a:srgbClr val="F5F5F7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0067" y="1444752"/>
            <a:ext cx="2966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Budget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310067" y="1901952"/>
            <a:ext cx="2966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Surprise Pricing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10067" y="2212848"/>
            <a:ext cx="29663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Predictable $950/mo flat rate. Fully managed end-to-end report generation, quality assurance, and automated multi-channel delivery.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337560"/>
            <a:ext cx="10728655" cy="2377440"/>
          </a:xfrm>
          <a:prstGeom prst="roundRect">
            <a:avLst>
              <a:gd name="adj" fmla="val 4615"/>
            </a:avLst>
          </a:prstGeom>
          <a:solidFill>
            <a:srgbClr val="F5F5F7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520440"/>
            <a:ext cx="10180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COMMERCIAL STEP: ESTABLISHING REPORT BENCHMARKS BEFORE MODEL SELECTION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05840" y="3840480"/>
            <a:ext cx="10180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Page Count Drives Token Volume: A 2-page summary uses ~15,000 tokens, while a 5-page review uses ~35,000 tokens.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Why We Anchor on Tier 2 (Standard Review): Without exact sample PDFs, we establish Tier 2 (3–5 Pages @ $950/mo) as our baseline benchmark.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Direct Email &amp; WhatsApp Dispatch: Gemini Flash provides native OCR vision for scanned statements, with automatic delivery via Email &amp; WhatsApp.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534924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Benchmark Footnote: Assumes an average workload of 35k input tokens and 3.5k output tokens per report (350M input / 35M output tokens across 10,000 monthly reports).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1520" y="6035040"/>
            <a:ext cx="10728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NARRATIVE STEP: Before evaluating AI models, we define the 3 Report Complexity Tiers.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12700">
            <a:solidFill>
              <a:srgbClr val="E5E5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SARVAX BY C3A LABS | 22-MODEL COMPARISON &amp; COMMERCIAL SPECIFICATION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5457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47472"/>
            <a:ext cx="4389120" cy="274320"/>
          </a:xfrm>
          <a:prstGeom prst="roundRect">
            <a:avLst>
              <a:gd name="adj" fmla="val 50000"/>
            </a:avLst>
          </a:prstGeom>
          <a:solidFill>
            <a:srgbClr val="EBF3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7490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PRICING OPTIONS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Commercial Tiers for 10,000 Monthly Reports (Managed Package)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3332074" cy="4480560"/>
          </a:xfrm>
          <a:prstGeom prst="roundRect">
            <a:avLst>
              <a:gd name="adj" fmla="val 3293"/>
            </a:avLst>
          </a:prstGeom>
          <a:solidFill>
            <a:srgbClr val="F5F5F7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36192"/>
            <a:ext cx="29663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1: LITE BRIEF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2966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– 2 Pages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176272"/>
            <a:ext cx="2966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Monthly Summary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296631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Powered by Gemini 3.5 Flash-Lite (Fast OCR).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Brief NAV &amp; balance update statement.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Volume: 15k input / 1.5k output per report (150M in / 15M out for 10k reports).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Cost per Report: $0.035 (~4.5 KSh / ₹3.38)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10k Monthly Total: $350 / month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Local Currency: ~45,100 KSh/mo (₹33.8k)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29354" y="1325880"/>
            <a:ext cx="3332074" cy="4480560"/>
          </a:xfrm>
          <a:prstGeom prst="roundRect">
            <a:avLst>
              <a:gd name="adj" fmla="val 3293"/>
            </a:avLst>
          </a:prstGeom>
          <a:solidFill>
            <a:srgbClr val="F5F5F7"/>
          </a:solidFill>
          <a:ln w="25400">
            <a:solidFill>
              <a:srgbClr val="006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2234" y="1536192"/>
            <a:ext cx="29663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2: STANDARD REVIEW (RECOMMENDED)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2234" y="1783080"/>
            <a:ext cx="2966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– 5 Pages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2234" y="2176272"/>
            <a:ext cx="2966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Portfolio Breakdown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2234" y="2514600"/>
            <a:ext cx="296631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Gemini OCR + DeepSeek Text + Kimi Brain.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Full holding list, yield notes &amp; market updates.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Volume: 35k input / 3.5k output per report (350M in / 35M out for 10k reports).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Cost per Report: $0.095 (~12.2 KSh / ₹9.17)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10k Monthly Total: $950 / month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Local Currency: ~122,500 KSh/mo (₹91,700)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27187" y="1325880"/>
            <a:ext cx="3332074" cy="4480560"/>
          </a:xfrm>
          <a:prstGeom prst="roundRect">
            <a:avLst>
              <a:gd name="adj" fmla="val 3293"/>
            </a:avLst>
          </a:prstGeom>
          <a:solidFill>
            <a:srgbClr val="F5F5F7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10067" y="1536192"/>
            <a:ext cx="29663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3: INSTITUTIONAL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10067" y="1783080"/>
            <a:ext cx="2966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– 12 Pages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10067" y="2176272"/>
            <a:ext cx="2966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Institutional Analysis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10067" y="2514600"/>
            <a:ext cx="296631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Gemini OCR + DeepSeek Text + Kimi K3 Brain.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Comprehensive asset allocation &amp; tax breakdown.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Volume: 75k input / 8.0k output per report (750M in / 80M out for 10k reports).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Cost per Report: $0.195 (~25.1 KSh / ₹18.80)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10k Monthly Total: $1,950 / month</a:t>
            </a:r>
            <a:endParaRPr lang="en-US" sz="10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Local Currency: ~251,500 KSh/mo (₹1.88 Lakhs)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6035040"/>
            <a:ext cx="10728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NARRATIVE STEP: Let's inspect the visual structure of a Standard 3-5 Page Client Report.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12700">
            <a:solidFill>
              <a:srgbClr val="E5E5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SARVAX BY C3A LABS | 22-MODEL COMPARISON &amp; COMMERCIAL SPECIFICATION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457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47472"/>
            <a:ext cx="4389120" cy="274320"/>
          </a:xfrm>
          <a:prstGeom prst="roundRect">
            <a:avLst>
              <a:gd name="adj" fmla="val 50000"/>
            </a:avLst>
          </a:prstGeom>
          <a:solidFill>
            <a:srgbClr val="EBF3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7490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REPORT TEMPLATE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Anatomy of a Standard 3-5 Page Client Portfolio Report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029968" cy="4480560"/>
          </a:xfrm>
          <a:prstGeom prst="roundRect">
            <a:avLst>
              <a:gd name="adj" fmla="val 5405"/>
            </a:avLst>
          </a:prstGeom>
          <a:solidFill>
            <a:srgbClr val="F5F5F7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36192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1 (OCR)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Overview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1755648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Ingested via Gemini Flash OCR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Investor Name &amp; Account ID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Total Portfolio Value (KSh)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Month-on-Month Growth (%)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07792" y="1325880"/>
            <a:ext cx="2029968" cy="4480560"/>
          </a:xfrm>
          <a:prstGeom prst="roundRect">
            <a:avLst>
              <a:gd name="adj" fmla="val 5405"/>
            </a:avLst>
          </a:prstGeom>
          <a:solidFill>
            <a:srgbClr val="F5F5F7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4952" y="1536192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2 (OCR)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44952" y="178308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Holdings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44952" y="2240280"/>
            <a:ext cx="1755648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Scanned Statement Parsing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Almasi Fixed Income Balance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Money Market Fund Balance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Asset Class Pie Chart Vision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84064" y="1325880"/>
            <a:ext cx="2029968" cy="4480560"/>
          </a:xfrm>
          <a:prstGeom prst="roundRect">
            <a:avLst>
              <a:gd name="adj" fmla="val 5405"/>
            </a:avLst>
          </a:prstGeom>
          <a:solidFill>
            <a:srgbClr val="F5F5F7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1536192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3 (TEXT)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21224" y="178308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Yield &amp; Returns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21224" y="2240280"/>
            <a:ext cx="1755648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DeepSeek Heavy Text Lifting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Interest Yield Analysis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Benchmark Comparison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Distribution History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60336" y="1325880"/>
            <a:ext cx="2029968" cy="4480560"/>
          </a:xfrm>
          <a:prstGeom prst="roundRect">
            <a:avLst>
              <a:gd name="adj" fmla="val 5405"/>
            </a:avLst>
          </a:prstGeom>
          <a:solidFill>
            <a:srgbClr val="F5F5F7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97496" y="1536192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4 (BRAIN)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97496" y="178308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Commentary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7496" y="2240280"/>
            <a:ext cx="1755648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Kimi K3 Financial Logic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Kenyan Fixed Income Trends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Central Bank Rate Impacts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Risk &amp; Outlook Brief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436608" y="1325880"/>
            <a:ext cx="2029968" cy="4480560"/>
          </a:xfrm>
          <a:prstGeom prst="roundRect">
            <a:avLst>
              <a:gd name="adj" fmla="val 5405"/>
            </a:avLst>
          </a:prstGeom>
          <a:solidFill>
            <a:srgbClr val="F5F5F7"/>
          </a:solidFill>
          <a:ln w="25400">
            <a:solidFill>
              <a:srgbClr val="006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73768" y="1536192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5 (CONTROL)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573768" y="1783080"/>
            <a:ext cx="175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 Actions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73768" y="2240280"/>
            <a:ext cx="1755648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Rebalancing Suggestions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Recommended Next Steps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Assigned IFA Contact Details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Click-to-Approve Gate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1520" y="6035040"/>
            <a:ext cx="10728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NARRATIVE STEP: Now let's compare 22 AI models side-by-side: Direct Uncached vs. SARVAX Managed Package.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12700">
            <a:solidFill>
              <a:srgbClr val="E5E5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SARVAX BY C3A LABS | 22-MODEL COMPARISON &amp; COMMERCIAL SPECIFICATION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5457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47472"/>
            <a:ext cx="4389120" cy="274320"/>
          </a:xfrm>
          <a:prstGeom prst="roundRect">
            <a:avLst>
              <a:gd name="adj" fmla="val 50000"/>
            </a:avLst>
          </a:prstGeom>
          <a:solidFill>
            <a:srgbClr val="EBF3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7490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MODEL EVALUATION (1/3)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High-Efficiency Context Readers (External Direct vs. SARVAX Package)</a:t>
            </a:r>
            <a:endParaRPr lang="en-US" sz="2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10728655" cy="4389120"/>
        </p:xfrm>
        <a:graphic>
          <a:graphicData uri="http://schemas.openxmlformats.org/drawingml/2006/table">
            <a:tbl>
              <a:tblPr/>
              <a:tblGrid>
                <a:gridCol w="1788109"/>
                <a:gridCol w="1788109"/>
                <a:gridCol w="1788109"/>
                <a:gridCol w="1788109"/>
                <a:gridCol w="1788109"/>
                <a:gridCol w="1788109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Model Name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Role / Superpower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Rates (In/Out per 1M)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External Direct 10k Cost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SARVAX Managed Package Price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SARVAX Savings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DeepSeek V4 Pro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★ Heavy Text Lifter ($0.0036 cached)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$0.435 / $0.870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$182.70 (~23.6k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6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$150.00 (~19.3k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0D15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17.9% ★ Text Lead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Gemini 3.5 Flash-Lite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★ Primary OCR Reader (362 tps)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$0.300 / $2.500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$192.50 (~24.8k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6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$160.00 (~20.6k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0D15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16.9% ★ OCR Lead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Qwen 3.7 Plus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 Input Rate ($0.40) Table Extraction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$0.400 / $1.600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$196.00 (~25.3k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$165.00 (~21.2k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15.8%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Cohere Command 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Enterprise RAG &amp; Source Citations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$0.500 / $1.500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$228.00 (~29.4k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$190.00 (~24.5k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16.7%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Amazon Nova Pro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AWS Bedrock Enterprise VPC Security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$0.800 / $3.200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$392.00 (~50.6k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$310.00 (~40.0k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20.9%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Kimi K2.6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Long Context Under $1.00 Input Rate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$0.950 / $4.000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$472.50 (~61.0k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$370.00 (~47.7k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21.7%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GPT-5.6 Luna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Sub-Second Low Latency Chat Copilot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$1.000 / $6.000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$560.00 (~72.2k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$450.00 (~58.0k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19.6%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5779008"/>
            <a:ext cx="10728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Benchmark Volume Footnote: Calculated for Tier 2 Standard (35k input tokens + 3.5k output tokens per report = 350M input / 35M output tokens across 10,000 reports).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31520" y="6035040"/>
            <a:ext cx="10728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NARRATIVE STEP: Part 2 compares financial reasoning models and multimodal vision models.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12700">
            <a:solidFill>
              <a:srgbClr val="E5E5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SARVAX BY C3A LABS | 22-MODEL COMPARISON &amp; COMMERCIAL SPECIFICATION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5457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47472"/>
            <a:ext cx="4389120" cy="274320"/>
          </a:xfrm>
          <a:prstGeom prst="roundRect">
            <a:avLst>
              <a:gd name="adj" fmla="val 50000"/>
            </a:avLst>
          </a:prstGeom>
          <a:solidFill>
            <a:srgbClr val="EBF3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7490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MODEL EVALUATION (2/3)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Reasoning &amp; Vision Models (External Direct vs. SARVAX Package)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10728655" cy="4389120"/>
        </p:xfrm>
        <a:graphic>
          <a:graphicData uri="http://schemas.openxmlformats.org/drawingml/2006/table">
            <a:tbl>
              <a:tblPr/>
              <a:tblGrid>
                <a:gridCol w="1788109"/>
                <a:gridCol w="1788109"/>
                <a:gridCol w="1788109"/>
                <a:gridCol w="1788109"/>
                <a:gridCol w="1788109"/>
                <a:gridCol w="1788109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Model Name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Role / Superpower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Rates (In/Out per 1M)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External Direct 10k Cost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SARVAX Managed Package Price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SARVAX Savings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Kimi K3 (Moonshot)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★ #1 Global SOTA TAU Banking (0.3340)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$3.000 / $15.000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$1,575.00 (~203.2k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6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$950.00 (~122.5k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0D15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39.7% ★ Brain Lead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Gemini 3.5 Flash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Fixed 258 Tokens/Page Scanned PDF Vision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$1.500 / $9.000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$840.00 (~108.4k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$620.00 (~80.0k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26.2%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Gemini 3.6 Flash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1M Native Context &amp; OCR Speed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$1.500 / $7.500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$787.50 (~101.6k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$550.00 (~70.9k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30.2%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Qwen 3.7 Max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SOTA Multi-Sheet Excel Logic (0.3120 TAU)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$2.500 / $7.500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$1,137.50 (~146.7k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$780.00 (~100.6k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31.4%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GLM-5.2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Multi-Turn Dialogue Context Retention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$1.400 / $4.400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$644.00 (~83.1k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$510.00 (~65.8k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20.8%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Grok 4.5 (xAI)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Real-Time Market Search Integration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$2.000 / $6.000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$910.00 (~117.4k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$690.00 (~89.0k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24.2%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Claude Sonnet 5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Executive Writing Tone for UHNW Briefs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$2.000 / $10.000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$1,050.00 (~135.5k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$750.00 (~96.7k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28.6%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5779008"/>
            <a:ext cx="10728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Benchmark Volume Footnote: Calculated for Tier 2 Standard (35k input tokens + 3.5k output tokens per report = 350M input / 35M output tokens across 10,000 reports).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31520" y="6035040"/>
            <a:ext cx="10728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NARRATIVE STEP: Part 3 compares heavy frontier flagship models.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12700">
            <a:solidFill>
              <a:srgbClr val="E5E5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SARVAX BY C3A LABS | 22-MODEL COMPARISON &amp; COMMERCIAL SPECIFICATION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5457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47472"/>
            <a:ext cx="4389120" cy="274320"/>
          </a:xfrm>
          <a:prstGeom prst="roundRect">
            <a:avLst>
              <a:gd name="adj" fmla="val 50000"/>
            </a:avLst>
          </a:prstGeom>
          <a:solidFill>
            <a:srgbClr val="EBF3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7490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MODEL EVALUATION (3/3)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Heavy Frontier &amp; Enterprise Models (External Direct vs. SARVAX Package)</a:t>
            </a:r>
            <a:endParaRPr lang="en-US" sz="2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10728655" cy="4389120"/>
        </p:xfrm>
        <a:graphic>
          <a:graphicData uri="http://schemas.openxmlformats.org/drawingml/2006/table">
            <a:tbl>
              <a:tblPr/>
              <a:tblGrid>
                <a:gridCol w="1788109"/>
                <a:gridCol w="1788109"/>
                <a:gridCol w="1788109"/>
                <a:gridCol w="1788109"/>
                <a:gridCol w="1788109"/>
                <a:gridCol w="1788109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Model Name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Role / Superpower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Rates (In/Out per 1M)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External Direct 10k Cost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SARVAX Managed Package Price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SARVAX Savings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D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Gemini 3.1 Pro Preview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Deep Multimodal Code &amp; Analysis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$2.000 / $12.000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$1,120.00 (~144.5k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$820.00 (~105.8k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26.8%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GPT-5.4 (OpenAI)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 Function-Calling Tool Reliability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$2.500 / $15.000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$1,400.00 (~180.6k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$980.00 (~126.4k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30.0%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GPT-5.6 Terra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 Concurrency Limits &amp; Uptime SLA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$2.500 / $15.000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$1,400.00 (~180.6k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$980.00 (~126.4k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30.0%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Claude Sonnet 4.6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Flawless Document Formatting &amp; Artifacts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$3.000 / $15.000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$1,575.00 (~203.2k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6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$980.00 (~126.4k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0D15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37.8%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Claude Opus 5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Ultimate Frontier Reasoning Flagship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$5.000 / $25.000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$2,625.00 (~338.6k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$1,750.00 (~225.8k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33.3%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GPT-5.5 (OpenAI)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Heavy Frontier Code &amp; Math Logic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$5.000 / $30.000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$2,800.00 (~361.2k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$1,950.00 (~251.5k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30.4%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Claude Fable 5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Specialized Long-Form Narrative Research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$10.000 / $50.000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$5,250.00 (~677.3k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$3,500.00 (~451.5k KSh)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33.3%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5779008"/>
            <a:ext cx="10728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Benchmark Volume Footnote: Calculated for Tier 2 Standard (35k input tokens + 3.5k output tokens per report = 350M input / 35M output tokens across 10,000 reports).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31520" y="6035040"/>
            <a:ext cx="10728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NARRATIVE STEP: Rather than paying expensive standalone rates, SARVAX uses a Smart Multi-Model Cascade.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12700">
            <a:solidFill>
              <a:srgbClr val="E5E5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SARVAX BY C3A LABS | 22-MODEL COMPARISON &amp; COMMERCIAL SPECIFICATION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5457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47472"/>
            <a:ext cx="4389120" cy="274320"/>
          </a:xfrm>
          <a:prstGeom prst="roundRect">
            <a:avLst>
              <a:gd name="adj" fmla="val 50000"/>
            </a:avLst>
          </a:prstGeom>
          <a:solidFill>
            <a:srgbClr val="EBF3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7490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SMART AI ENGINE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Multi-Model Cascade: OCR Vision + Text Heavy Lifting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476195" cy="4480560"/>
          </a:xfrm>
          <a:prstGeom prst="roundRect">
            <a:avLst>
              <a:gd name="adj" fmla="val 4431"/>
            </a:avLst>
          </a:prstGeom>
          <a:solidFill>
            <a:srgbClr val="F5F5F7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36192"/>
            <a:ext cx="22018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1: OCR VISION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22018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Flash (OCR)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212848"/>
            <a:ext cx="22018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Scanned PDF Vision Reader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578608"/>
            <a:ext cx="220187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Scans image PDFs, identity docs &amp; charts.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Fixed 258 tokens per page.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Extracts structured text &amp; numbers from scanned files.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82035" y="1325880"/>
            <a:ext cx="2476195" cy="4480560"/>
          </a:xfrm>
          <a:prstGeom prst="roundRect">
            <a:avLst>
              <a:gd name="adj" fmla="val 4431"/>
            </a:avLst>
          </a:prstGeom>
          <a:solidFill>
            <a:srgbClr val="F5F5F7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9195" y="1536192"/>
            <a:ext cx="22018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2: HEAVY TEXT LIFTING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9195" y="1783080"/>
            <a:ext cx="22018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V4 Pro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9195" y="2212848"/>
            <a:ext cx="22018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Context Ingestion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9195" y="2578608"/>
            <a:ext cx="220187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Ingests 50+ page CRM histories &amp; fund disclosures.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99.17% Caching discount ($0.0036/1M cached).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High-volume context processing at pennies.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2550" y="1325880"/>
            <a:ext cx="2476195" cy="4480560"/>
          </a:xfrm>
          <a:prstGeom prst="roundRect">
            <a:avLst>
              <a:gd name="adj" fmla="val 4431"/>
            </a:avLst>
          </a:prstGeom>
          <a:solidFill>
            <a:srgbClr val="F5F5F7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9710" y="1536192"/>
            <a:ext cx="22018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3: DEEP REASONING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69710" y="1783080"/>
            <a:ext cx="22018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Kimi K3 Brain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69710" y="2212848"/>
            <a:ext cx="22018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 SOTA Banking Reasoning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69710" y="2578608"/>
            <a:ext cx="220187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#1 TAU Banking benchmark leader (0.3340).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Writes clear, professional financial commentary.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Explains yield &amp; market shifts clearly.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83066" y="1325880"/>
            <a:ext cx="2476195" cy="4480560"/>
          </a:xfrm>
          <a:prstGeom prst="roundRect">
            <a:avLst>
              <a:gd name="adj" fmla="val 4431"/>
            </a:avLst>
          </a:prstGeom>
          <a:solidFill>
            <a:srgbClr val="F5F5F7"/>
          </a:solidFill>
          <a:ln w="25400">
            <a:solidFill>
              <a:srgbClr val="006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20226" y="1536192"/>
            <a:ext cx="22018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4: EXACT MATH &amp; CONTROL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20226" y="1783080"/>
            <a:ext cx="22018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Math Oracle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20226" y="2212848"/>
            <a:ext cx="22018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Exact Math + Advisor Sign-Off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20226" y="2578608"/>
            <a:ext cx="220187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Python Decimal code handles 100% of NAVs &amp; returns (Zero AI math error).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Human advisors review &amp; approve drafts.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Full audit trail kept for internal records.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1520" y="6035040"/>
            <a:ext cx="10728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NARRATIVE STEP: See how Smart Memory Caching slashes monthly API bills by another 65%.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12700">
            <a:solidFill>
              <a:srgbClr val="E5E5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SARVAX BY C3A LABS | 22-MODEL COMPARISON &amp; COMMERCIAL SPECIFICATION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5457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47472"/>
            <a:ext cx="4389120" cy="274320"/>
          </a:xfrm>
          <a:prstGeom prst="roundRect">
            <a:avLst>
              <a:gd name="adj" fmla="val 50000"/>
            </a:avLst>
          </a:prstGeom>
          <a:solidFill>
            <a:srgbClr val="EBF3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7490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COST SAVINGS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Caching &amp; Platform Economics: Direct Vendor vs. SARVAX Benchmark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5180990" cy="4480560"/>
          </a:xfrm>
          <a:prstGeom prst="roundRect">
            <a:avLst>
              <a:gd name="adj" fmla="val 2449"/>
            </a:avLst>
          </a:prstGeom>
          <a:solidFill>
            <a:srgbClr val="F5F5F7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54480"/>
            <a:ext cx="463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VENDOR UNCACHED RATE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46323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$1,575 / Month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05840" y="2359152"/>
            <a:ext cx="38404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395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~203,200 KSh / mo  ·  ₹1.52 Lakhs / mo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2788920"/>
            <a:ext cx="463235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898648"/>
            <a:ext cx="4358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Standalone Direct API Pricing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3154680"/>
            <a:ext cx="4358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$3.00/1M In ($0.105) + $15.00/1M Out ($0.0525) = $0.1575 / report.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05840" y="3794760"/>
            <a:ext cx="463235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904488"/>
            <a:ext cx="4358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Ingestion Optimization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4160520"/>
            <a:ext cx="4358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Buying direct from vendor API charges full rate on every run.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05840" y="4800600"/>
            <a:ext cx="463235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910328"/>
            <a:ext cx="4358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10,000 Uncached Runs Total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5166360"/>
            <a:ext cx="4358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Assumes 350M input / 35M output tokens across 10,000 reports.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78270" y="1325880"/>
            <a:ext cx="5180990" cy="4480560"/>
          </a:xfrm>
          <a:prstGeom prst="roundRect">
            <a:avLst>
              <a:gd name="adj" fmla="val 2449"/>
            </a:avLst>
          </a:prstGeom>
          <a:solidFill>
            <a:srgbClr val="F5F5F7"/>
          </a:solidFill>
          <a:ln w="25400">
            <a:solidFill>
              <a:srgbClr val="0066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0" y="1508760"/>
            <a:ext cx="2468880" cy="274320"/>
          </a:xfrm>
          <a:prstGeom prst="roundRect">
            <a:avLst>
              <a:gd name="adj" fmla="val 50000"/>
            </a:avLst>
          </a:prstGeom>
          <a:solidFill>
            <a:srgbClr val="EBF3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15361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39.7% CLIENT SAVINGS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52590" y="1554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SARVAX MANAGED TIER 2 PACKAGE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552590" y="1783080"/>
            <a:ext cx="46323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0D1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$950 / Month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6552590" y="2359152"/>
            <a:ext cx="3840480" cy="292608"/>
          </a:xfrm>
          <a:prstGeom prst="roundRect">
            <a:avLst>
              <a:gd name="adj" fmla="val 18750"/>
            </a:avLst>
          </a:prstGeom>
          <a:solidFill>
            <a:srgbClr val="EBF3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44030" y="23957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~122,500 KSh / mo  ·  ₹91,700 / mo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52590" y="2788920"/>
            <a:ext cx="463235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89750" y="2898648"/>
            <a:ext cx="4358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All-Inclusive Managed SaaS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89750" y="3154680"/>
            <a:ext cx="4358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managed report generation, quality checks, and investor distribution.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52590" y="3794760"/>
            <a:ext cx="463235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89750" y="3904488"/>
            <a:ext cx="4358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Kimi K3 SOTA Banking Engine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89750" y="4160520"/>
            <a:ext cx="4358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#1 SOTA TAU Banking reasoning + Gemini OCR Vision reader.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52590" y="4800600"/>
            <a:ext cx="463235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89750" y="4910328"/>
            <a:ext cx="4358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Flat-Rate Guarantee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89750" y="5166360"/>
            <a:ext cx="4358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Saves $625/mo vs direct vendor. Capped flat rate guarantees complete budget predictability.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31520" y="6035040"/>
            <a:ext cx="10728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NARRATIVE STEP: How batch queueing ensures month-end reports dispatch reliably.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12700">
            <a:solidFill>
              <a:srgbClr val="E5E5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SARVAX BY C3A LABS | 22-MODEL COMPARISON &amp; COMMERCIAL SPECIFICATION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5457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47472"/>
            <a:ext cx="4389120" cy="274320"/>
          </a:xfrm>
          <a:prstGeom prst="roundRect">
            <a:avLst>
              <a:gd name="adj" fmla="val 50000"/>
            </a:avLst>
          </a:prstGeom>
          <a:solidFill>
            <a:srgbClr val="EBF3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7490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BATCH DISPATCH &amp; PRIVACY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Monthly Dispatch &amp; Encrypted Data Isolation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10728655" cy="1417320"/>
          </a:xfrm>
          <a:prstGeom prst="roundRect">
            <a:avLst>
              <a:gd name="adj" fmla="val 7742"/>
            </a:avLst>
          </a:prstGeom>
          <a:solidFill>
            <a:srgbClr val="F5F5F7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08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AUTOMATED MONTH-END QUEUEING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quietly in the background at month-end. System processes all 10,000 client reports in under 3.5 hours without requiring manual intervention from operations or 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880360"/>
            <a:ext cx="10728655" cy="1417320"/>
          </a:xfrm>
          <a:prstGeom prst="roundRect">
            <a:avLst>
              <a:gd name="adj" fmla="val 7742"/>
            </a:avLst>
          </a:prstGeom>
          <a:solidFill>
            <a:srgbClr val="F5F5F7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063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PRIMARY EMAIL &amp; WHATSAPP API DISPATCH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05840" y="33832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Dispatches PDF reports directly to investor email inboxes and WhatsApp API messages. Zero integration dependencies on mobile app development.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434840"/>
            <a:ext cx="10728655" cy="1417320"/>
          </a:xfrm>
          <a:prstGeom prst="roundRect">
            <a:avLst>
              <a:gd name="adj" fmla="val 7742"/>
            </a:avLst>
          </a:prstGeom>
          <a:solidFill>
            <a:srgbClr val="F5F5F7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6177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ENCRYPTED DATA PRIVACY &amp; ZERO MODEL TRAINING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05840" y="493776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Zero Data Retention agreements with LLM providers. Client financial data is encrypted in dedicated isolated storage and NEVER trained on by public AI models.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6035040"/>
            <a:ext cx="10728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NARRATIVE STEP: The bottom-line financial ROI and recommended action items for today's call.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12700">
            <a:solidFill>
              <a:srgbClr val="E5E5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SARVAX BY C3A LABS | 22-MODEL COMPARISON &amp; COMMERCIAL SPECIFICATION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5457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47472"/>
            <a:ext cx="4389120" cy="274320"/>
          </a:xfrm>
          <a:prstGeom prst="roundRect">
            <a:avLst>
              <a:gd name="adj" fmla="val 50000"/>
            </a:avLst>
          </a:prstGeom>
          <a:solidFill>
            <a:srgbClr val="EBF3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7490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 EXECUTIVE ROI &amp; DECISION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2,300+ Analyst Hours Recovered at &lt;1% Cost &amp; Pilot Plan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5180990" cy="4480560"/>
          </a:xfrm>
          <a:prstGeom prst="roundRect">
            <a:avLst>
              <a:gd name="adj" fmla="val 2449"/>
            </a:avLst>
          </a:prstGeom>
          <a:solidFill>
            <a:srgbClr val="F5F5F7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36192"/>
            <a:ext cx="46323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QUANTIFIED FINANCIAL ROI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46323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2,340 Hours / Year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46323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Recovered Across Wealth Advisors &amp; Operations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5840" y="2633472"/>
            <a:ext cx="463235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Manual Alternative: Hiring 3 middle-office analysts = ~$45,000/yr (~5.8M KSh/yr).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SARVAX Standard Tier 2 Cost: ~$11,400 / year (~1.47M KSh/yr / $950/mo).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Direct Staffing Savings: &gt;74.7% savings vs traditional analyst staffing.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100% Investor Coverage: Guarantees every single client receives a statement.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78270" y="1325880"/>
            <a:ext cx="5180990" cy="4480560"/>
          </a:xfrm>
          <a:prstGeom prst="roundRect">
            <a:avLst>
              <a:gd name="adj" fmla="val 2449"/>
            </a:avLst>
          </a:prstGeom>
          <a:solidFill>
            <a:srgbClr val="F5F5F7"/>
          </a:solidFill>
          <a:ln w="25400">
            <a:solidFill>
              <a:srgbClr val="006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2590" y="1536192"/>
            <a:ext cx="46323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PACKAGE &amp; NEXT STEPS FOR CALL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52590" y="1828800"/>
            <a:ext cx="463235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0D1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2: Standard Package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552590" y="2286000"/>
            <a:ext cx="46323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~$950 / Mo (~122,500 KSh / ₹91,700/mo) for 10k Reports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52590" y="2633472"/>
            <a:ext cx="463235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Confirm Tier Selection: Select Tier 1 ($350/mo), Tier 2 ($950/mo), or Tier 3 ($1,950/mo).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Share 1 Sample Report PDF: Allows C3A engineering to lock exact template bounds.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Run 100-Report Free Test Batch: Verify Gemini Flash OCR &amp; Email/WhatsApp dispatch.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Kickoff Technical Setup: Connect BFF API endpoints with Arnold &amp; Simar.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6035040"/>
            <a:ext cx="10728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NARRATIVE STEP: Let's review C3aLabs platform overview and leadership contact details.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6309360"/>
            <a:ext cx="10728655" cy="0"/>
          </a:xfrm>
          <a:prstGeom prst="line">
            <a:avLst/>
          </a:prstGeom>
          <a:noFill/>
          <a:ln w="12700">
            <a:solidFill>
              <a:srgbClr val="E5E5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SARVAX BY C3A LABS | 22-MODEL COMPARISON &amp; COMMERCIAL SPECIFICATION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5457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atyyy/Documents/R&amp;D - C3ALABS/LLM-Intelligence-Repository/assets/sarvax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411480"/>
            <a:ext cx="3047695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41732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C3aLabs, Inc.  ×  Arvocap Asset Managers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31520" y="1901952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Execution &amp; Communication Engine for Wealth Advisory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371600" y="2331720"/>
            <a:ext cx="9448495" cy="2468880"/>
          </a:xfrm>
          <a:prstGeom prst="roundRect">
            <a:avLst>
              <a:gd name="adj" fmla="val 4444"/>
            </a:avLst>
          </a:prstGeom>
          <a:solidFill>
            <a:srgbClr val="F5F5F7"/>
          </a:solidFill>
          <a:ln w="12700">
            <a:solidFill>
              <a:srgbClr val="E5E5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2542032"/>
            <a:ext cx="8899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SarvaX.ai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645920" y="2999232"/>
            <a:ext cx="8899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151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AI Platform for Regulated Wealth &amp; Asset Management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645920" y="3364992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 Casula — Founder &amp; CEO</a:t>
            </a:r>
            <a:endParaRPr lang="en-US" sz="11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saicasula@c3alabs.com  ·  c3alabs.com  ·  New York, NY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45920" y="4023360"/>
            <a:ext cx="8899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C3A Project Contacts: Satyam Singh Rajput (Product Lead) | Pratyush Malviya (Sales Manager)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371600" y="4937760"/>
            <a:ext cx="9448495" cy="822960"/>
          </a:xfrm>
          <a:prstGeom prst="roundRect">
            <a:avLst>
              <a:gd name="adj" fmla="val 8889"/>
            </a:avLst>
          </a:prstGeom>
          <a:solidFill>
            <a:srgbClr val="1D1D1F"/>
          </a:solidFill>
          <a:ln/>
        </p:spPr>
      </p:sp>
      <p:sp>
        <p:nvSpPr>
          <p:cNvPr id="11" name="Text 8"/>
          <p:cNvSpPr/>
          <p:nvPr/>
        </p:nvSpPr>
        <p:spPr>
          <a:xfrm>
            <a:off x="1645920" y="5074920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"AI won't replace financial advisors. But advisors empowered by AI will serve 10x more investors with higher trust."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86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SarvaX.ai — Powered by C3ALabs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SARVAX x Arvocap — 22-Model Frontier Comparison &amp; 10k Report Guide</dc:title>
  <dc:subject>PptxGenJS Presentation</dc:subject>
  <dc:creator>Satyam Singh Rajput (C3A Labs)</dc:creator>
  <cp:lastModifiedBy>Satyam Singh Rajput (C3A Labs)</cp:lastModifiedBy>
  <cp:revision>1</cp:revision>
  <dcterms:created xsi:type="dcterms:W3CDTF">2026-07-26T23:45:54Z</dcterms:created>
  <dcterms:modified xsi:type="dcterms:W3CDTF">2026-07-26T23:45:54Z</dcterms:modified>
</cp:coreProperties>
</file>