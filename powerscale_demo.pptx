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0728655" cy="475488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920240"/>
            <a:ext cx="92656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66FF"/>
                </a:solidFill>
              </a:defRPr>
            </a:pPr>
            <a:r>
              <a:t>POWERSCALE ENTERPRISE ARCHITECTURE</a:t>
            </a:r>
          </a:p>
          <a:p>
            <a:pPr>
              <a:spcAft>
                <a:spcPts val="1600"/>
              </a:spcAft>
              <a:defRPr sz="4000" b="1">
                <a:solidFill>
                  <a:srgbClr val="1D1D1F"/>
                </a:solidFill>
              </a:defRPr>
            </a:pPr>
            <a:r>
              <a:t>High-Performance Scale-Out Storage Platform</a:t>
            </a:r>
          </a:p>
          <a:p>
            <a:pPr>
              <a:defRPr sz="1600">
                <a:solidFill>
                  <a:srgbClr val="86868B"/>
                </a:solidFill>
              </a:defRPr>
            </a:pPr>
            <a:r>
              <a:t>Unifying file and object workloads with unprecedented scalability, AI data streaming, and zero-trust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6868B"/>
                </a:solidFill>
                <a:latin typeface="Calibri"/>
              </a:defRPr>
            </a:pPr>
            <a:r>
              <a:t>PowerScale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86868B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66FF"/>
                </a:solidFill>
                <a:latin typeface="Calibri"/>
              </a:defRPr>
            </a:pPr>
            <a:r>
              <a:t>PERFORMANCE METRICS</a:t>
            </a:r>
          </a:p>
          <a:p>
            <a:pPr>
              <a:defRPr sz="3200" b="1">
                <a:solidFill>
                  <a:srgbClr val="1D1D1F"/>
                </a:solidFill>
                <a:latin typeface="Calibri"/>
              </a:defRPr>
            </a:pPr>
            <a:r>
              <a:t>PowerScale Next-Gen Cluster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476423" cy="201168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201922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0066FF"/>
                </a:solidFill>
                <a:latin typeface="Calibri"/>
              </a:defRPr>
            </a:pPr>
            <a:r>
              <a:t>186 PB</a:t>
            </a:r>
          </a:p>
          <a:p>
            <a:pPr>
              <a:defRPr sz="1300" b="0">
                <a:solidFill>
                  <a:srgbClr val="1D1D1F"/>
                </a:solidFill>
                <a:latin typeface="Calibri"/>
              </a:defRPr>
            </a:pPr>
            <a:r>
              <a:t>Maximum raw capacity per single cluster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82263" y="1645920"/>
            <a:ext cx="2476423" cy="201168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0863" y="1874520"/>
            <a:ext cx="201922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0066FF"/>
                </a:solidFill>
                <a:latin typeface="Calibri"/>
              </a:defRPr>
            </a:pPr>
            <a:r>
              <a:t>12.5 TB/s</a:t>
            </a:r>
          </a:p>
          <a:p>
            <a:pPr>
              <a:defRPr sz="1300" b="0">
                <a:solidFill>
                  <a:srgbClr val="1D1D1F"/>
                </a:solidFill>
                <a:latin typeface="Calibri"/>
              </a:defRPr>
            </a:pPr>
            <a:r>
              <a:t>Sustained read throughput across NVMe 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45920"/>
            <a:ext cx="2476423" cy="201168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607" y="1874520"/>
            <a:ext cx="201922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0066FF"/>
                </a:solidFill>
                <a:latin typeface="Calibri"/>
              </a:defRPr>
            </a:pPr>
            <a:r>
              <a:t>100 GbE</a:t>
            </a:r>
          </a:p>
          <a:p>
            <a:pPr>
              <a:defRPr sz="1300" b="0">
                <a:solidFill>
                  <a:srgbClr val="1D1D1F"/>
                </a:solidFill>
                <a:latin typeface="Calibri"/>
              </a:defRPr>
            </a:pPr>
            <a:r>
              <a:t>Dual-port front-end networking interfaces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83751" y="1645920"/>
            <a:ext cx="2476423" cy="201168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2351" y="1874520"/>
            <a:ext cx="201922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0066FF"/>
                </a:solidFill>
                <a:latin typeface="Calibri"/>
              </a:defRPr>
            </a:pPr>
            <a:r>
              <a:t>&lt; 1.5 ms</a:t>
            </a:r>
          </a:p>
          <a:p>
            <a:pPr>
              <a:defRPr sz="1300" b="0">
                <a:solidFill>
                  <a:srgbClr val="1D1D1F"/>
                </a:solidFill>
                <a:latin typeface="Calibri"/>
              </a:defRPr>
            </a:pPr>
            <a:r>
              <a:t>Ultra-low latency for unstructured AI workloads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27167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67852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D1D1F"/>
                </a:solidFill>
              </a:defRPr>
            </a:pPr>
            <a:r>
              <a:t>OneFS Distributed File System</a:t>
            </a:r>
          </a:p>
          <a:p>
            <a:pPr>
              <a:defRPr sz="1300">
                <a:solidFill>
                  <a:srgbClr val="86868B"/>
                </a:solidFill>
              </a:defRPr>
            </a:pPr>
            <a:r>
              <a:t>Single volume namespace eliminates data silos and management overhead, allowing seamless scaling from terabytes to petabytes.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3931920"/>
            <a:ext cx="5227167" cy="219456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4206240"/>
            <a:ext cx="467852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D1D1F"/>
                </a:solidFill>
              </a:defRPr>
            </a:pPr>
            <a:r>
              <a:t>Multi-Cloud Integration</a:t>
            </a:r>
          </a:p>
          <a:p>
            <a:pPr>
              <a:defRPr sz="1300">
                <a:solidFill>
                  <a:srgbClr val="86868B"/>
                </a:solidFill>
              </a:defRPr>
            </a:pPr>
            <a:r>
              <a:t>Direct high-speed interconnects with AWS, Azure, and Google Cloud for cloud bursting and automated tiering.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6868B"/>
                </a:solidFill>
                <a:latin typeface="Calibri"/>
              </a:defRPr>
            </a:pPr>
            <a:r>
              <a:t>PowerScale Platform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86868B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66FF"/>
                </a:solidFill>
                <a:latin typeface="Calibri"/>
              </a:defRPr>
            </a:pPr>
            <a:r>
              <a:t>CORE CAPABILITIES</a:t>
            </a:r>
          </a:p>
          <a:p>
            <a:pPr>
              <a:defRPr sz="3200" b="1">
                <a:solidFill>
                  <a:srgbClr val="1D1D1F"/>
                </a:solidFill>
                <a:latin typeface="Calibri"/>
              </a:defRPr>
            </a:pPr>
            <a:r>
              <a:t>Architectural Pillars of PowerScale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62858" cy="448056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281421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1D1F"/>
                </a:solidFill>
              </a:defRPr>
            </a:pPr>
            <a:r>
              <a:t>Flexible All-Flash Nodes</a:t>
            </a:r>
          </a:p>
          <a:p>
            <a:pPr>
              <a:defRPr sz="1400">
                <a:solidFill>
                  <a:srgbClr val="86868B"/>
                </a:solidFill>
              </a:defRPr>
            </a:pPr>
            <a:r>
              <a:t>Powered by NVMe media to accelerate demanding AI, machine learning, and deep learning analytics workloads with massive parallel processing.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1645920"/>
            <a:ext cx="3362858" cy="448056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8738" y="1965960"/>
            <a:ext cx="281421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1D1F"/>
                </a:solidFill>
              </a:defRPr>
            </a:pPr>
            <a:r>
              <a:t>Enterprise Cyber Resilience</a:t>
            </a:r>
          </a:p>
          <a:p>
            <a:pPr>
              <a:defRPr sz="1400">
                <a:solidFill>
                  <a:srgbClr val="86868B"/>
                </a:solidFill>
              </a:defRPr>
            </a:pPr>
            <a:r>
              <a:t>Multi-layer security with SmartLock compliance, automated ransomware detection, air-gap isolation, and immutable snapshots.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7316" y="1645920"/>
            <a:ext cx="3362858" cy="448056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71636" y="1965960"/>
            <a:ext cx="281421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1D1F"/>
                </a:solidFill>
              </a:defRPr>
            </a:pPr>
            <a:r>
              <a:t>SmartDedupe &amp; Compression</a:t>
            </a:r>
          </a:p>
          <a:p>
            <a:pPr>
              <a:defRPr sz="1400">
                <a:solidFill>
                  <a:srgbClr val="86868B"/>
                </a:solidFill>
              </a:defRPr>
            </a:pPr>
            <a:r>
              <a:t>Inline data reduction technology maximizing storage efficiency and reducing total cost of ownership by up to 33%.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6868B"/>
                </a:solidFill>
                <a:latin typeface="Calibri"/>
              </a:defRPr>
            </a:pPr>
            <a:r>
              <a:t>PowerScale Platform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86868B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